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5143500" type="screen16x9"/>
  <p:notesSz cx="5143500" cy="9144000"/>
  <p:embeddedFontLst>
    <p:embeddedFont>
      <p:font typeface="DM Sans" panose="020F0502020204030204" pitchFamily="2" charset="0"/>
      <p:regular r:id="rId10"/>
      <p:bold r:id="rId11"/>
      <p:italic r:id="rId12"/>
      <p:boldItalic r:id="rId13"/>
    </p:embeddedFont>
    <p:embeddedFont>
      <p:font typeface="PT Serif" panose="020A0603040505020204" pitchFamily="18" charset="0"/>
      <p:regular r:id="rId14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46" d="100"/>
          <a:sy n="146" d="100"/>
        </p:scale>
        <p:origin x="59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4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font" Target="fonts/font5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666974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BB848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svg"/><Relationship Id="rId5" Type="http://schemas.openxmlformats.org/officeDocument/2006/relationships/image" Target="../media/image17.svg"/><Relationship Id="rId4" Type="http://schemas.openxmlformats.org/officeDocument/2006/relationships/image" Target="../media/image16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715000" y="0"/>
            <a:ext cx="3429000" cy="5143500"/>
          </a:xfrm>
          <a:prstGeom prst="rect">
            <a:avLst/>
          </a:prstGeom>
          <a:solidFill>
            <a:srgbClr val="F2EEEE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81452" y="99640"/>
            <a:ext cx="3296096" cy="494414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96119" y="400348"/>
            <a:ext cx="4722763" cy="17442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Autonomous Smart Dual Infusion &amp; Patient Monitoring System Using ESP32</a:t>
            </a:r>
            <a:endParaRPr lang="en-US" sz="2700" dirty="0"/>
          </a:p>
        </p:txBody>
      </p:sp>
      <p:sp>
        <p:nvSpPr>
          <p:cNvPr id="5" name="Text 2"/>
          <p:cNvSpPr/>
          <p:nvPr/>
        </p:nvSpPr>
        <p:spPr>
          <a:xfrm>
            <a:off x="496119" y="2331467"/>
            <a:ext cx="4722763" cy="4119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0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An intelligent ESP32-based IV infusion, syringe pump, and patient monitoring solution — designed for reliable, affordable bedside automation.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496119" y="3345275"/>
            <a:ext cx="4722763" cy="1072816"/>
          </a:xfrm>
          <a:prstGeom prst="roundRect">
            <a:avLst>
              <a:gd name="adj" fmla="val 2054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en-BD" dirty="0"/>
          </a:p>
        </p:txBody>
      </p:sp>
      <p:sp>
        <p:nvSpPr>
          <p:cNvPr id="7" name="Text 4"/>
          <p:cNvSpPr/>
          <p:nvPr/>
        </p:nvSpPr>
        <p:spPr>
          <a:xfrm>
            <a:off x="629022" y="3478178"/>
            <a:ext cx="2033290" cy="2180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Team Members: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629022" y="3696211"/>
            <a:ext cx="4456956" cy="6112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29000"/>
              </a:lnSpc>
            </a:pPr>
            <a:r>
              <a:rPr lang="en-US" sz="10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1. Md. Turjo Hasnat – 0112410067                2. Md. Khalid Hasan – 0112410009</a:t>
            </a:r>
          </a:p>
          <a:p>
            <a:pPr>
              <a:lnSpc>
                <a:spcPct val="129000"/>
              </a:lnSpc>
            </a:pPr>
            <a:r>
              <a:rPr lang="en-US" sz="1000" dirty="0">
                <a:solidFill>
                  <a:srgbClr val="383838"/>
                </a:solidFill>
                <a:latin typeface="DM Sans" pitchFamily="34" charset="0"/>
              </a:rPr>
              <a:t> 3. </a:t>
            </a:r>
            <a:r>
              <a:rPr lang="en-US" sz="1000" dirty="0" err="1">
                <a:solidFill>
                  <a:srgbClr val="383838"/>
                </a:solidFill>
                <a:latin typeface="DM Sans" pitchFamily="34" charset="0"/>
              </a:rPr>
              <a:t>Moieb</a:t>
            </a:r>
            <a:r>
              <a:rPr lang="en-US" sz="1000" dirty="0">
                <a:solidFill>
                  <a:srgbClr val="383838"/>
                </a:solidFill>
                <a:latin typeface="DM Sans" pitchFamily="34" charset="0"/>
              </a:rPr>
              <a:t> Al Jawad – 0112410289                 4. Swarup Deb Nath – 0112230150</a:t>
            </a:r>
          </a:p>
          <a:p>
            <a:pPr>
              <a:lnSpc>
                <a:spcPct val="129000"/>
              </a:lnSpc>
            </a:pPr>
            <a:r>
              <a:rPr lang="en-US" sz="1000" dirty="0"/>
              <a:t>	                 </a:t>
            </a:r>
            <a:r>
              <a:rPr lang="en-US" sz="1000" dirty="0">
                <a:latin typeface=""/>
              </a:rPr>
              <a:t>5. Md Shakib - 0112410546</a:t>
            </a:r>
          </a:p>
        </p:txBody>
      </p:sp>
      <p:sp>
        <p:nvSpPr>
          <p:cNvPr id="10" name="Text 7"/>
          <p:cNvSpPr/>
          <p:nvPr/>
        </p:nvSpPr>
        <p:spPr>
          <a:xfrm>
            <a:off x="3052688" y="3016448"/>
            <a:ext cx="2033290" cy="2180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3052688" y="3309193"/>
            <a:ext cx="2033290" cy="4119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9000"/>
              </a:lnSpc>
              <a:buNone/>
            </a:pP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715000" y="0"/>
            <a:ext cx="3429000" cy="5143500"/>
          </a:xfrm>
          <a:prstGeom prst="rect">
            <a:avLst/>
          </a:prstGeom>
          <a:solidFill>
            <a:srgbClr val="F2EEEE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85842" y="106263"/>
            <a:ext cx="3287316" cy="493097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96119" y="473273"/>
            <a:ext cx="4722763" cy="3721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3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Problem Statement</a:t>
            </a:r>
            <a:endParaRPr lang="en-US" sz="2300" dirty="0"/>
          </a:p>
        </p:txBody>
      </p:sp>
      <p:sp>
        <p:nvSpPr>
          <p:cNvPr id="5" name="Text 2"/>
          <p:cNvSpPr/>
          <p:nvPr/>
        </p:nvSpPr>
        <p:spPr>
          <a:xfrm>
            <a:off x="496119" y="1058019"/>
            <a:ext cx="4722763" cy="15095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Manual IV/syringe control causing variability and delays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Limited continuous patient monitoring — higher risk of adverse events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Nurse workload elevated by repetitive, time-critical tasks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Few low-cost, integrated smart solutions for resource-constrained hospitals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496119" y="2762473"/>
            <a:ext cx="4722763" cy="19050"/>
          </a:xfrm>
          <a:prstGeom prst="roundRect">
            <a:avLst>
              <a:gd name="adj" fmla="val 50000"/>
            </a:avLst>
          </a:prstGeom>
          <a:solidFill>
            <a:srgbClr val="383838">
              <a:alpha val="5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496119" y="3029545"/>
            <a:ext cx="4722763" cy="3721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3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Project Objectives</a:t>
            </a:r>
            <a:endParaRPr lang="en-US" sz="2300" dirty="0"/>
          </a:p>
        </p:txBody>
      </p:sp>
      <p:sp>
        <p:nvSpPr>
          <p:cNvPr id="8" name="Text 5"/>
          <p:cNvSpPr/>
          <p:nvPr/>
        </p:nvSpPr>
        <p:spPr>
          <a:xfrm>
            <a:off x="496119" y="3614291"/>
            <a:ext cx="4722763" cy="10559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Automatic IV flow control and syringe delivery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Continuous heart-rate monitoring (MAX30102)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Wireless real-time dashboard (ESP32 — ESP-NOW / Wi‑Fi)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Emergency alerts, LCD status, reduced nurse workload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89855"/>
            <a:ext cx="8151763" cy="2325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System Architecture</a:t>
            </a:r>
            <a:endParaRPr lang="en-US" sz="14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82291" y="693241"/>
            <a:ext cx="5579343" cy="442897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063292" y="2406405"/>
            <a:ext cx="1002649" cy="9629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Bidirectional Monitoring &amp; Control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5049638" y="1227222"/>
            <a:ext cx="1491619" cy="24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5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Patient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5049638" y="1533163"/>
            <a:ext cx="1491619" cy="1375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78000"/>
              </a:lnSpc>
              <a:buNone/>
            </a:pPr>
            <a:r>
              <a:rPr lang="en-US" sz="11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Source of vital data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2563393" y="1106858"/>
            <a:ext cx="1491619" cy="4814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5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LCD Display + Buzzer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2563393" y="1653526"/>
            <a:ext cx="1491619" cy="1375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78000"/>
              </a:lnSpc>
              <a:buNone/>
            </a:pPr>
            <a:r>
              <a:rPr lang="en-US" sz="11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Local alarms &amp; status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2563393" y="3948208"/>
            <a:ext cx="1491619" cy="4814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5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IV Infusion Module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2563393" y="4494876"/>
            <a:ext cx="1491619" cy="2751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ctr">
              <a:lnSpc>
                <a:spcPct val="78000"/>
              </a:lnSpc>
              <a:buNone/>
            </a:pPr>
            <a:r>
              <a:rPr lang="en-US" sz="11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IR sensor + servo actuation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5049638" y="4068571"/>
            <a:ext cx="1491619" cy="2407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5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ESP32 Controller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5049638" y="4374512"/>
            <a:ext cx="1491619" cy="2751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ctr">
              <a:lnSpc>
                <a:spcPct val="78000"/>
              </a:lnSpc>
              <a:buNone/>
            </a:pPr>
            <a:r>
              <a:rPr lang="en-US" sz="11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Sensor fusion &amp; control logic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5587645" y="2472764"/>
            <a:ext cx="1524226" cy="4814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5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MAX30102 HR Sensor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5587645" y="3019432"/>
            <a:ext cx="1524226" cy="2751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ctr">
              <a:lnSpc>
                <a:spcPct val="78000"/>
              </a:lnSpc>
              <a:buNone/>
            </a:pPr>
            <a:r>
              <a:rPr lang="en-US" sz="11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Heart-rate &amp; SpO2 readings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2017235" y="2480916"/>
            <a:ext cx="1524226" cy="4814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5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Syringe Pump Module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2017235" y="3027584"/>
            <a:ext cx="1524226" cy="2751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ctr">
              <a:lnSpc>
                <a:spcPct val="78000"/>
              </a:lnSpc>
              <a:buNone/>
            </a:pPr>
            <a:r>
              <a:rPr lang="en-US" sz="11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Stepper + lead screw drive</a:t>
            </a:r>
            <a:endParaRPr lang="en-US" sz="1150" dirty="0"/>
          </a:p>
        </p:txBody>
      </p:sp>
      <p:sp>
        <p:nvSpPr>
          <p:cNvPr id="17" name="Text 14"/>
          <p:cNvSpPr/>
          <p:nvPr/>
        </p:nvSpPr>
        <p:spPr>
          <a:xfrm>
            <a:off x="496119" y="5162029"/>
            <a:ext cx="8608963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5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Bi-directional controls and wireless telemetry enable remote monitoring and local alarms. Diagram shows sensors feeding ESP32, actuation chain for infusion and syringe, and dashboard for caregivers.</a:t>
            </a:r>
            <a:endParaRPr lang="en-US" sz="5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983679"/>
            <a:ext cx="8151763" cy="465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Hardware Components</a:t>
            </a:r>
            <a:endParaRPr lang="en-US" sz="29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1732359"/>
            <a:ext cx="419100" cy="4191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92398" y="1732359"/>
            <a:ext cx="1308720" cy="2325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ESP32 DevKit</a:t>
            </a:r>
            <a:endParaRPr lang="en-US" sz="145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78298" y="1732359"/>
            <a:ext cx="419100" cy="41910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3174578" y="1732359"/>
            <a:ext cx="1308795" cy="4650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MAX30102 HR Sensor</a:t>
            </a:r>
            <a:endParaRPr lang="en-US" sz="145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60553" y="1732359"/>
            <a:ext cx="419100" cy="41910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5256833" y="1732359"/>
            <a:ext cx="1308795" cy="2325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IR Drop Sensor</a:t>
            </a:r>
            <a:endParaRPr lang="en-US" sz="1450" dirty="0"/>
          </a:p>
        </p:txBody>
      </p:sp>
      <p:pic>
        <p:nvPicPr>
          <p:cNvPr id="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42807" y="1732359"/>
            <a:ext cx="419100" cy="419100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7339087" y="1732359"/>
            <a:ext cx="1308795" cy="4650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Servo Motor (IV control)</a:t>
            </a:r>
            <a:endParaRPr lang="en-US" sz="1450" dirty="0"/>
          </a:p>
        </p:txBody>
      </p:sp>
      <p:pic>
        <p:nvPicPr>
          <p:cNvPr id="1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6119" y="2480965"/>
            <a:ext cx="419100" cy="419100"/>
          </a:xfrm>
          <a:prstGeom prst="rect">
            <a:avLst/>
          </a:prstGeom>
        </p:spPr>
      </p:pic>
      <p:sp>
        <p:nvSpPr>
          <p:cNvPr id="12" name="Text 5"/>
          <p:cNvSpPr/>
          <p:nvPr/>
        </p:nvSpPr>
        <p:spPr>
          <a:xfrm>
            <a:off x="1092398" y="2480965"/>
            <a:ext cx="1308720" cy="4650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Stepper Motor + Lead Screw</a:t>
            </a:r>
            <a:endParaRPr lang="en-US" sz="1450" dirty="0"/>
          </a:p>
        </p:txBody>
      </p:sp>
      <p:pic>
        <p:nvPicPr>
          <p:cNvPr id="13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578298" y="2480965"/>
            <a:ext cx="419100" cy="419100"/>
          </a:xfrm>
          <a:prstGeom prst="rect">
            <a:avLst/>
          </a:prstGeom>
        </p:spPr>
      </p:pic>
      <p:sp>
        <p:nvSpPr>
          <p:cNvPr id="14" name="Text 6"/>
          <p:cNvSpPr/>
          <p:nvPr/>
        </p:nvSpPr>
        <p:spPr>
          <a:xfrm>
            <a:off x="3174578" y="2480965"/>
            <a:ext cx="1308795" cy="4650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LCD Display &amp; Buzzer</a:t>
            </a:r>
            <a:endParaRPr lang="en-US" sz="1450" dirty="0"/>
          </a:p>
        </p:txBody>
      </p:sp>
      <p:pic>
        <p:nvPicPr>
          <p:cNvPr id="15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660553" y="2480965"/>
            <a:ext cx="419100" cy="419100"/>
          </a:xfrm>
          <a:prstGeom prst="rect">
            <a:avLst/>
          </a:prstGeom>
        </p:spPr>
      </p:pic>
      <p:sp>
        <p:nvSpPr>
          <p:cNvPr id="16" name="Text 7"/>
          <p:cNvSpPr/>
          <p:nvPr/>
        </p:nvSpPr>
        <p:spPr>
          <a:xfrm>
            <a:off x="5256833" y="2480965"/>
            <a:ext cx="1308795" cy="4650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Motor Driver &amp; Power Supply</a:t>
            </a:r>
            <a:endParaRPr lang="en-US" sz="1450" dirty="0"/>
          </a:p>
        </p:txBody>
      </p:sp>
      <p:pic>
        <p:nvPicPr>
          <p:cNvPr id="17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742807" y="2480965"/>
            <a:ext cx="419100" cy="419100"/>
          </a:xfrm>
          <a:prstGeom prst="rect">
            <a:avLst/>
          </a:prstGeom>
        </p:spPr>
      </p:pic>
      <p:sp>
        <p:nvSpPr>
          <p:cNvPr id="18" name="Text 8"/>
          <p:cNvSpPr/>
          <p:nvPr/>
        </p:nvSpPr>
        <p:spPr>
          <a:xfrm>
            <a:off x="7339087" y="2480965"/>
            <a:ext cx="1308795" cy="6976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Rechargeable Battery &amp; Wheels</a:t>
            </a:r>
            <a:endParaRPr lang="en-US" sz="1450" dirty="0"/>
          </a:p>
        </p:txBody>
      </p:sp>
      <p:pic>
        <p:nvPicPr>
          <p:cNvPr id="19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96119" y="3462114"/>
            <a:ext cx="419100" cy="419100"/>
          </a:xfrm>
          <a:prstGeom prst="rect">
            <a:avLst/>
          </a:prstGeom>
        </p:spPr>
      </p:pic>
      <p:sp>
        <p:nvSpPr>
          <p:cNvPr id="20" name="Text 9"/>
          <p:cNvSpPr/>
          <p:nvPr/>
        </p:nvSpPr>
        <p:spPr>
          <a:xfrm>
            <a:off x="1092398" y="3462114"/>
            <a:ext cx="1308720" cy="6976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Following Sensor / Camera</a:t>
            </a:r>
            <a:endParaRPr lang="en-US" sz="14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10394"/>
            <a:ext cx="8151763" cy="465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Working Principle</a:t>
            </a:r>
            <a:endParaRPr lang="en-US" sz="29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641" y="1159073"/>
            <a:ext cx="7890644" cy="29609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002209" y="3275118"/>
            <a:ext cx="1190147" cy="4814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5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Stepper Syringe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5502299" y="3395483"/>
            <a:ext cx="1190146" cy="2407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5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Servo Adjust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4010540" y="3395483"/>
            <a:ext cx="1190146" cy="2407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5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ESP32 Logic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2518781" y="3395483"/>
            <a:ext cx="1190146" cy="2407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5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Drop Detect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994415" y="3395483"/>
            <a:ext cx="1190146" cy="2407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5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Heart-rate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496119" y="4279478"/>
            <a:ext cx="815176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Continuous sensor feedback closes the control loop. ESP32 runs safety checks, triggers local alarms, and streams data for remote visualization and triage.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09724"/>
            <a:ext cx="8151763" cy="3561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Key Features &amp; Advantages</a:t>
            </a:r>
            <a:endParaRPr lang="en-US" sz="22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6119" y="983977"/>
            <a:ext cx="271314" cy="27131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96119" y="1359098"/>
            <a:ext cx="3943499" cy="1779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Dual Infusion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496119" y="1620143"/>
            <a:ext cx="3943499" cy="1532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8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Simultaneous control of two IV lines for parallel therapies.</a:t>
            </a:r>
            <a:endParaRPr lang="en-US" sz="8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96119" y="1939603"/>
            <a:ext cx="271314" cy="271314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96119" y="2314724"/>
            <a:ext cx="3943499" cy="1779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Automatic IV &amp; Syringe</a:t>
            </a:r>
            <a:endParaRPr lang="en-US" sz="1100" dirty="0"/>
          </a:p>
        </p:txBody>
      </p:sp>
      <p:sp>
        <p:nvSpPr>
          <p:cNvPr id="8" name="Text 4"/>
          <p:cNvSpPr/>
          <p:nvPr/>
        </p:nvSpPr>
        <p:spPr>
          <a:xfrm>
            <a:off x="496119" y="2575768"/>
            <a:ext cx="3943499" cy="1532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8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Precision servo and stepper-based actuation with closed-loop feedback.</a:t>
            </a:r>
            <a:endParaRPr lang="en-US" sz="8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96119" y="2895228"/>
            <a:ext cx="271314" cy="271314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496119" y="3270349"/>
            <a:ext cx="3943499" cy="1779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Heart Rate Monitoring</a:t>
            </a:r>
            <a:endParaRPr lang="en-US" sz="1100" dirty="0"/>
          </a:p>
        </p:txBody>
      </p:sp>
      <p:sp>
        <p:nvSpPr>
          <p:cNvPr id="11" name="Text 6"/>
          <p:cNvSpPr/>
          <p:nvPr/>
        </p:nvSpPr>
        <p:spPr>
          <a:xfrm>
            <a:off x="496119" y="3531394"/>
            <a:ext cx="3943499" cy="1532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8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Continuous, non-invasive measurement and trend alerts.</a:t>
            </a:r>
            <a:endParaRPr lang="en-US" sz="8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96119" y="3850853"/>
            <a:ext cx="271314" cy="271314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496119" y="4225975"/>
            <a:ext cx="3943499" cy="1779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ESP32 Wireless</a:t>
            </a:r>
            <a:endParaRPr lang="en-US" sz="1100" dirty="0"/>
          </a:p>
        </p:txBody>
      </p:sp>
      <p:sp>
        <p:nvSpPr>
          <p:cNvPr id="14" name="Text 8"/>
          <p:cNvSpPr/>
          <p:nvPr/>
        </p:nvSpPr>
        <p:spPr>
          <a:xfrm>
            <a:off x="496119" y="4487019"/>
            <a:ext cx="3943499" cy="1532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8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Low-latency ESP‑NOW / Wi‑Fi telemetry to web dashboard.</a:t>
            </a:r>
            <a:endParaRPr lang="en-US" sz="850" dirty="0"/>
          </a:p>
        </p:txBody>
      </p:sp>
      <p:sp>
        <p:nvSpPr>
          <p:cNvPr id="15" name="Shape 9"/>
          <p:cNvSpPr/>
          <p:nvPr/>
        </p:nvSpPr>
        <p:spPr>
          <a:xfrm>
            <a:off x="4709145" y="983977"/>
            <a:ext cx="1930226" cy="1820019"/>
          </a:xfrm>
          <a:prstGeom prst="roundRect">
            <a:avLst>
              <a:gd name="adj" fmla="val 895"/>
            </a:avLst>
          </a:prstGeom>
          <a:solidFill>
            <a:srgbClr val="FFFFFF"/>
          </a:solidFill>
          <a:ln w="14288">
            <a:solidFill>
              <a:srgbClr val="D8D4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0"/>
          <p:cNvSpPr/>
          <p:nvPr/>
        </p:nvSpPr>
        <p:spPr>
          <a:xfrm>
            <a:off x="4831928" y="1106760"/>
            <a:ext cx="1684660" cy="1779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Advantages</a:t>
            </a:r>
            <a:endParaRPr lang="en-US" sz="1100" dirty="0"/>
          </a:p>
        </p:txBody>
      </p:sp>
      <p:sp>
        <p:nvSpPr>
          <p:cNvPr id="17" name="Text 11"/>
          <p:cNvSpPr/>
          <p:nvPr/>
        </p:nvSpPr>
        <p:spPr>
          <a:xfrm>
            <a:off x="4831928" y="1367805"/>
            <a:ext cx="1684660" cy="13134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72720" indent="-172720" algn="l">
              <a:lnSpc>
                <a:spcPct val="118000"/>
              </a:lnSpc>
              <a:buSzPct val="100000"/>
              <a:buChar char="•"/>
            </a:pPr>
            <a:r>
              <a:rPr lang="en-US" sz="8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Higher accuracy &amp; consistent dosing</a:t>
            </a:r>
            <a:endParaRPr lang="en-US" sz="850" dirty="0"/>
          </a:p>
          <a:p>
            <a:pPr marL="172720" indent="-172720" algn="l">
              <a:lnSpc>
                <a:spcPct val="118000"/>
              </a:lnSpc>
              <a:buSzPct val="100000"/>
              <a:buChar char="•"/>
            </a:pPr>
            <a:r>
              <a:rPr lang="en-US" sz="8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Reduced human error &amp; nurse workload</a:t>
            </a:r>
            <a:endParaRPr lang="en-US" sz="850" dirty="0"/>
          </a:p>
          <a:p>
            <a:pPr marL="172720" indent="-172720" algn="l">
              <a:lnSpc>
                <a:spcPct val="118000"/>
              </a:lnSpc>
              <a:buSzPct val="100000"/>
              <a:buChar char="•"/>
            </a:pPr>
            <a:r>
              <a:rPr lang="en-US" sz="8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Continuous patient monitoring and alarms</a:t>
            </a:r>
            <a:endParaRPr lang="en-US" sz="850" dirty="0"/>
          </a:p>
          <a:p>
            <a:pPr marL="172720" indent="-172720" algn="l">
              <a:lnSpc>
                <a:spcPct val="118000"/>
              </a:lnSpc>
              <a:buSzPct val="100000"/>
              <a:buChar char="•"/>
            </a:pPr>
            <a:r>
              <a:rPr lang="en-US" sz="8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Low-cost, portable — suited for Bangladesh hospitals</a:t>
            </a:r>
            <a:endParaRPr lang="en-US" sz="850" dirty="0"/>
          </a:p>
        </p:txBody>
      </p:sp>
      <p:sp>
        <p:nvSpPr>
          <p:cNvPr id="18" name="Shape 12"/>
          <p:cNvSpPr/>
          <p:nvPr/>
        </p:nvSpPr>
        <p:spPr>
          <a:xfrm>
            <a:off x="6722418" y="983977"/>
            <a:ext cx="1930226" cy="1820019"/>
          </a:xfrm>
          <a:prstGeom prst="roundRect">
            <a:avLst>
              <a:gd name="adj" fmla="val 895"/>
            </a:avLst>
          </a:prstGeom>
          <a:solidFill>
            <a:srgbClr val="FFFFFF"/>
          </a:solidFill>
          <a:ln w="14288">
            <a:solidFill>
              <a:srgbClr val="D8D4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3"/>
          <p:cNvSpPr/>
          <p:nvPr/>
        </p:nvSpPr>
        <p:spPr>
          <a:xfrm>
            <a:off x="6845201" y="1106760"/>
            <a:ext cx="1684660" cy="1779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Interface</a:t>
            </a:r>
            <a:endParaRPr lang="en-US" sz="1100" dirty="0"/>
          </a:p>
        </p:txBody>
      </p:sp>
      <p:sp>
        <p:nvSpPr>
          <p:cNvPr id="20" name="Text 14"/>
          <p:cNvSpPr/>
          <p:nvPr/>
        </p:nvSpPr>
        <p:spPr>
          <a:xfrm>
            <a:off x="6845201" y="1367805"/>
            <a:ext cx="1684660" cy="45987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8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Local LCD + buzzer for bedside alerts; web dashboard for clinicians.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715000" y="0"/>
            <a:ext cx="3429000" cy="5143500"/>
          </a:xfrm>
          <a:prstGeom prst="rect">
            <a:avLst/>
          </a:prstGeom>
          <a:solidFill>
            <a:srgbClr val="F2EEEE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85842" y="380181"/>
            <a:ext cx="3287241" cy="438306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96119" y="555501"/>
            <a:ext cx="4722763" cy="465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29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Conclusion &amp; Future Scope</a:t>
            </a:r>
            <a:endParaRPr lang="en-US" sz="2900" dirty="0"/>
          </a:p>
        </p:txBody>
      </p:sp>
      <p:sp>
        <p:nvSpPr>
          <p:cNvPr id="5" name="Text 2"/>
          <p:cNvSpPr/>
          <p:nvPr/>
        </p:nvSpPr>
        <p:spPr>
          <a:xfrm>
            <a:off x="496119" y="1233264"/>
            <a:ext cx="4722763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We integrated smart IV infusion, an intelligent syringe pump, and heart-rate monitoring on an ESP32 platform to deliver an affordable bedside automation system that improves patient safety and reduces staff workload.</a:t>
            </a:r>
            <a:endParaRPr lang="en-US" sz="11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96119" y="2299990"/>
            <a:ext cx="2290465" cy="2287935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37877" y="2441749"/>
            <a:ext cx="2006947" cy="2325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Future Improvements</a:t>
            </a:r>
            <a:endParaRPr lang="en-US" sz="1450" dirty="0"/>
          </a:p>
        </p:txBody>
      </p:sp>
      <p:sp>
        <p:nvSpPr>
          <p:cNvPr id="8" name="Text 4"/>
          <p:cNvSpPr/>
          <p:nvPr/>
        </p:nvSpPr>
        <p:spPr>
          <a:xfrm>
            <a:off x="637877" y="2759348"/>
            <a:ext cx="2006947" cy="16868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AI-based health prediction and anomaly detection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Additional sensors: BP, SpO2, ECG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Mobile app and cloud connectivity for longitudinal records</a:t>
            </a:r>
            <a:endParaRPr lang="en-US" sz="11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928342" y="2299990"/>
            <a:ext cx="2290539" cy="2287935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3070101" y="2441749"/>
            <a:ext cx="2007022" cy="2325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Contact</a:t>
            </a:r>
            <a:endParaRPr lang="en-US" sz="1450" dirty="0"/>
          </a:p>
        </p:txBody>
      </p:sp>
      <p:sp>
        <p:nvSpPr>
          <p:cNvPr id="11" name="Text 6"/>
          <p:cNvSpPr/>
          <p:nvPr/>
        </p:nvSpPr>
        <p:spPr>
          <a:xfrm>
            <a:off x="3070101" y="2759348"/>
            <a:ext cx="2007022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Thank you!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</TotalTime>
  <Words>470</Words>
  <Application>Microsoft Office PowerPoint</Application>
  <PresentationFormat>On-screen Show (16:9)</PresentationFormat>
  <Paragraphs>79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PT Serif</vt:lpstr>
      <vt:lpstr>DM Sans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MD. Khalid Hasan</cp:lastModifiedBy>
  <cp:revision>3</cp:revision>
  <dcterms:created xsi:type="dcterms:W3CDTF">2026-08-07T15:51:45Z</dcterms:created>
  <dcterms:modified xsi:type="dcterms:W3CDTF">2026-08-08T02:58:37Z</dcterms:modified>
</cp:coreProperties>
</file>